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7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4F75"/>
    <a:srgbClr val="FFE3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4B188B-A307-4FAE-BCBA-A1A0E6EDD036}" type="datetimeFigureOut">
              <a:rPr lang="en-GB" smtClean="0"/>
              <a:t>05/09/2025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80A019-D242-4562-935C-AC1A8718CE3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1270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6670C6-88E9-5330-1613-9D4F5353C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1422082-E432-6DAA-00A9-123EBB428E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6D7EDAE-FE51-B788-B58F-ACD90EE3E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FBCE2F5-79E0-2C32-D0C6-FA5E6DF7C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Event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CAC676-6643-1155-A644-9AF690E9D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BF58-0AA9-4615-94F3-E2E6BA466E2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6244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760B90-C0E4-81CF-734E-6D6C8D08D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7C77DEE-1F9C-E9EC-E566-6C7EA9FA1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0ECF9D-189D-9FC3-5DB9-0830CF25B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70D9230-F4EF-7874-DB36-10D13E526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Event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80CA88C-C66B-4FCE-0E38-93199A4FE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BF58-0AA9-4615-94F3-E2E6BA466E2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8247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B6D6C7-7C76-FFF3-D75F-2780016F0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8F06963-C04F-E913-315D-799CEA276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3FFAC4D-C87B-B385-A65C-A4B56F024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2E3B21-432E-CFAC-19D7-6EC713590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Event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A159434-3E96-0C90-D475-74AF00298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BF58-0AA9-4615-94F3-E2E6BA466E2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29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673C76-6F73-06C8-63A9-77080A4BC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412F94-7D7A-19AB-D84F-3D4241DE52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F2A19D9-7C2E-0CC0-58B5-37F1916D30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04C9844-1B74-ADBE-7C2E-71B721784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4593370-D095-3AD1-5CF8-D8C82BA84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Event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35D0511-39FF-B899-5778-5E83276A1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BF58-0AA9-4615-94F3-E2E6BA466E2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851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0BFFAE-0E39-9EC7-13BB-704466B2D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3566667-92DC-A409-398F-A6610EA6E1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DE58EA9-6E57-9FD4-A15E-974525ED83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A4B2D92-09BB-BD3A-60D0-8432AA10F4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5497992-C90B-7445-8E1B-ED388910FC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D982C6B-ABA5-E739-CFD6-B4B5C6A55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965A6C1-7122-1EDA-8D13-41D9A25CD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Event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4CFFEB2-CCB8-8F72-B684-1234922A1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BF58-0AA9-4615-94F3-E2E6BA466E2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6939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69AE84-17AE-2E37-E330-AB0AB3880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C201483-2FD8-09A0-C1A7-50F819349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256D776-22F8-2681-1897-EEA07899A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Event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F88743C-1A83-1244-C4A2-361928DF8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BF58-0AA9-4615-94F3-E2E6BA466E2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8215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6A47DDE-BE11-40FF-CEC9-97EA3C450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38CA2FE-E7DB-0532-143E-A05998EAC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Event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23C2906-DA5D-5A31-EA20-FC7072644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BF58-0AA9-4615-94F3-E2E6BA466E2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2573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B4613B-EAF5-EF7E-D6FE-B4CB708DC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A9F042-81D9-8667-38B5-D143D3792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94C463B-DB01-F1F2-5BAD-1631AFA9D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AAC5761-3CE0-B4E3-0F37-3C921BD39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ED1DD28-C0B2-14AB-AF7A-65E06137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Event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9EC0D7F-12C5-CCA9-C289-C8AEF6A4E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BF58-0AA9-4615-94F3-E2E6BA466E2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7350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70CE88-4C23-A664-09B3-7E2C8C8DD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91AEB03-C32D-450F-2F2E-F04138096D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C1E5894-D898-6977-1B2F-60E7A0C331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28B2513-D872-EEDC-B489-5DAD3D402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BFBA230-6E7B-A87A-5E62-99ACAD0E1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Event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D5A3F97-10D8-1D74-3E36-D6F9DD980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BF58-0AA9-4615-94F3-E2E6BA466E2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2223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E035EC-1BE0-7969-CF6C-820E4D146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A0CB34B-FB78-F41C-4E2B-C52C56DE11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7429B4-022C-AFCC-CB7F-D19176F2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59579DC-C425-796E-E6B2-B48121C7D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Event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F455C44-3031-E2C2-5AEB-5DF38F6F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BF58-0AA9-4615-94F3-E2E6BA466E2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7750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7C4C8CE-0D0C-7D5A-B84E-C659458F93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40E7258-FB75-96C5-7597-874B2D25A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757629-C060-5DBD-2E1C-3634907DF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FC7B52-485D-DC63-1F0E-598382E6E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Event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86B616-D6A4-0E0E-37D5-C6FA641B4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BF58-0AA9-4615-94F3-E2E6BA466E2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9586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9E68749-D6FB-46A1-A2D9-DDFEAF2A6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A14368E-8B9D-540D-A7AB-5518E8072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C2DBA5-01EF-38F4-51A1-6549F7E963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Date</a:t>
            </a:r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E8A2FD-22F3-8426-FDF0-018357BC03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Event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4D0DC1A-D2C5-4763-88B4-B4F64F021B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66BF58-0AA9-4615-94F3-E2E6BA466E2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2669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F866B16A-CEB4-0F57-E90A-9081E94922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66041"/>
            <a:ext cx="12192000" cy="7012026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3DAC6648-ACA3-BAEB-5F98-B4576263510F}"/>
              </a:ext>
            </a:extLst>
          </p:cNvPr>
          <p:cNvSpPr txBox="1"/>
          <p:nvPr/>
        </p:nvSpPr>
        <p:spPr>
          <a:xfrm>
            <a:off x="11460396" y="5774130"/>
            <a:ext cx="32268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154F75"/>
                </a:solidFill>
                <a:latin typeface="Modern Love Grunge" panose="020F0502020204030204" pitchFamily="82" charset="0"/>
                <a:cs typeface="Dreaming Outloud Pro" panose="020F0502020204030204" pitchFamily="66" charset="0"/>
              </a:rPr>
              <a:t>2</a:t>
            </a:r>
            <a:endParaRPr lang="en-GB" sz="2800" b="1" dirty="0">
              <a:solidFill>
                <a:srgbClr val="154F75"/>
              </a:solidFill>
              <a:latin typeface="Modern Love Grunge" panose="020F0502020204030204" pitchFamily="82" charset="0"/>
              <a:cs typeface="Dreaming Outloud Pro" panose="020F0502020204030204" pitchFamily="66" charset="0"/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0BC9A44A-EED3-4D3E-F5AA-2CE048ED3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000" y="828000"/>
            <a:ext cx="7746600" cy="684606"/>
          </a:xfrm>
        </p:spPr>
        <p:txBody>
          <a:bodyPr lIns="90000">
            <a:normAutofit fontScale="90000"/>
          </a:bodyPr>
          <a:lstStyle>
            <a:lvl1pPr marL="0" algn="l" defTabSz="457200" rtl="0" eaLnBrk="1" latinLnBrk="0" hangingPunct="1">
              <a:defRPr lang="fr-FR" sz="2100" b="1" kern="1200" cap="all" baseline="0" dirty="0">
                <a:solidFill>
                  <a:srgbClr val="00548A"/>
                </a:solidFill>
                <a:latin typeface="Myriad Pro" panose="020B05030304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Enhancing Numerical Models via Improved Parameter Estimates from Diverse Geophysical Measurements</a:t>
            </a:r>
            <a:endParaRPr lang="fr-FR" dirty="0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CCD6EDEA-DDD7-43EC-CD7F-D016DB13FFD4}"/>
              </a:ext>
            </a:extLst>
          </p:cNvPr>
          <p:cNvSpPr txBox="1">
            <a:spLocks/>
          </p:cNvSpPr>
          <p:nvPr/>
        </p:nvSpPr>
        <p:spPr>
          <a:xfrm>
            <a:off x="211684" y="1596618"/>
            <a:ext cx="1956481" cy="46229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000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fr-FR" sz="1800" b="1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fr-FR" sz="1600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500" kern="1200" baseline="0">
                <a:solidFill>
                  <a:srgbClr val="00548A"/>
                </a:solidFill>
                <a:latin typeface="Myriad Pro" panose="020B05030304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65A3CC"/>
                </a:solidFill>
                <a:latin typeface="Myriad Pro" panose="020B05030304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56A099"/>
                </a:solidFill>
                <a:latin typeface="Myriad Pro" panose="020B05030304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 err="1"/>
              <a:t>Starting</a:t>
            </a:r>
            <a:r>
              <a:rPr lang="fr-FR" dirty="0"/>
              <a:t> point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2AFF30F9-4E0C-9231-5A9A-5A7C7DE53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BF58-0AA9-4615-94F3-E2E6BA466E22}" type="slidenum">
              <a:rPr lang="en-GB" smtClean="0"/>
              <a:t>1</a:t>
            </a:fld>
            <a:endParaRPr lang="en-GB"/>
          </a:p>
        </p:txBody>
      </p:sp>
      <p:pic>
        <p:nvPicPr>
          <p:cNvPr id="2" name="Inhaltsplatzhalter 8">
            <a:extLst>
              <a:ext uri="{FF2B5EF4-FFF2-40B4-BE49-F238E27FC236}">
                <a16:creationId xmlns:a16="http://schemas.microsoft.com/office/drawing/2014/main" id="{F2A8ACE9-4D99-C4B1-1E7E-887ECBD2E3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07" y="4467658"/>
            <a:ext cx="2216798" cy="2149961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E1F064A3-2311-5831-9C1E-91EC70FDCC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08" y="2077449"/>
            <a:ext cx="2354850" cy="2370778"/>
          </a:xfrm>
          <a:prstGeom prst="rect">
            <a:avLst/>
          </a:prstGeom>
        </p:spPr>
      </p:pic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809BC849-3244-72EC-5981-4AD8B60B387C}"/>
              </a:ext>
            </a:extLst>
          </p:cNvPr>
          <p:cNvGrpSpPr>
            <a:grpSpLocks noChangeAspect="1"/>
          </p:cNvGrpSpPr>
          <p:nvPr/>
        </p:nvGrpSpPr>
        <p:grpSpPr>
          <a:xfrm>
            <a:off x="2459379" y="2091824"/>
            <a:ext cx="7784291" cy="3862545"/>
            <a:chOff x="1823015" y="1372937"/>
            <a:chExt cx="6431568" cy="3089901"/>
          </a:xfrm>
        </p:grpSpPr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D80CE911-CCE8-09D9-7D87-0B8229F8337B}"/>
                </a:ext>
              </a:extLst>
            </p:cNvPr>
            <p:cNvSpPr/>
            <p:nvPr/>
          </p:nvSpPr>
          <p:spPr>
            <a:xfrm>
              <a:off x="1823015" y="1372937"/>
              <a:ext cx="6431568" cy="3089901"/>
            </a:xfrm>
            <a:prstGeom prst="rect">
              <a:avLst/>
            </a:prstGeom>
            <a:noFill/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" name="Grafik 12">
              <a:extLst>
                <a:ext uri="{FF2B5EF4-FFF2-40B4-BE49-F238E27FC236}">
                  <a16:creationId xmlns:a16="http://schemas.microsoft.com/office/drawing/2014/main" id="{CCB56EA7-A0EE-32D4-CA72-35AACA38289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282" b="28328"/>
            <a:stretch/>
          </p:blipFill>
          <p:spPr>
            <a:xfrm>
              <a:off x="6356179" y="2820630"/>
              <a:ext cx="1780990" cy="1526818"/>
            </a:xfrm>
            <a:prstGeom prst="rect">
              <a:avLst/>
            </a:prstGeom>
          </p:spPr>
        </p:pic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6E963DA2-D5EF-8413-4990-F4E93D0C28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74450" y="1419557"/>
              <a:ext cx="2996565" cy="1353444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184C9B32-A4DC-1A93-6B73-9F180D7FE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grayscl/>
            </a:blip>
            <a:srcRect l="51176" t="7205" r="10305" b="51263"/>
            <a:stretch/>
          </p:blipFill>
          <p:spPr>
            <a:xfrm>
              <a:off x="2170031" y="2715633"/>
              <a:ext cx="2068015" cy="1686538"/>
            </a:xfrm>
            <a:prstGeom prst="rect">
              <a:avLst/>
            </a:prstGeom>
          </p:spPr>
        </p:pic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5DEA3783-8F5C-CBDF-4632-AEA3EE25E2B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grayscl/>
            </a:blip>
            <a:stretch>
              <a:fillRect/>
            </a:stretch>
          </p:blipFill>
          <p:spPr>
            <a:xfrm>
              <a:off x="4370929" y="2778981"/>
              <a:ext cx="1852365" cy="1590618"/>
            </a:xfrm>
            <a:prstGeom prst="rect">
              <a:avLst/>
            </a:prstGeom>
          </p:spPr>
        </p:pic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72BEDA04-B43C-F138-E2ED-99418FA629D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grayscl/>
            </a:blip>
            <a:srcRect l="5727" t="6146" r="47857" b="4712"/>
            <a:stretch/>
          </p:blipFill>
          <p:spPr>
            <a:xfrm>
              <a:off x="7010842" y="1406687"/>
              <a:ext cx="1215318" cy="1393032"/>
            </a:xfrm>
            <a:prstGeom prst="rect">
              <a:avLst/>
            </a:prstGeom>
          </p:spPr>
        </p:pic>
        <p:pic>
          <p:nvPicPr>
            <p:cNvPr id="18" name="Grafik 17">
              <a:extLst>
                <a:ext uri="{FF2B5EF4-FFF2-40B4-BE49-F238E27FC236}">
                  <a16:creationId xmlns:a16="http://schemas.microsoft.com/office/drawing/2014/main" id="{E34C4000-97B9-2961-54AE-0685E8CD99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</a:blip>
            <a:srcRect l="1635" t="12362" r="65543" b="60978"/>
            <a:stretch/>
          </p:blipFill>
          <p:spPr>
            <a:xfrm>
              <a:off x="4874751" y="1431177"/>
              <a:ext cx="2107669" cy="1290096"/>
            </a:xfrm>
            <a:prstGeom prst="rect">
              <a:avLst/>
            </a:prstGeom>
          </p:spPr>
        </p:pic>
      </p:grpSp>
      <p:pic>
        <p:nvPicPr>
          <p:cNvPr id="19" name="Grafik 18">
            <a:extLst>
              <a:ext uri="{FF2B5EF4-FFF2-40B4-BE49-F238E27FC236}">
                <a16:creationId xmlns:a16="http://schemas.microsoft.com/office/drawing/2014/main" id="{F3BC1104-2DB4-2B1A-E34C-142176921D9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12924" y="51791"/>
            <a:ext cx="1807940" cy="998753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089F4613-717C-079B-8274-A4B47F99A8DB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47287"/>
          <a:stretch/>
        </p:blipFill>
        <p:spPr>
          <a:xfrm>
            <a:off x="8290623" y="19447"/>
            <a:ext cx="1991226" cy="1157703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C522C095-EE11-1886-A947-BE275416D07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78415" y="5957280"/>
            <a:ext cx="1154332" cy="669925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B254DBE6-780B-66A9-9214-CC74B4F4B2BA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r="49500"/>
          <a:stretch/>
        </p:blipFill>
        <p:spPr>
          <a:xfrm>
            <a:off x="7555580" y="5843879"/>
            <a:ext cx="1397896" cy="994231"/>
          </a:xfrm>
          <a:prstGeom prst="rect">
            <a:avLst/>
          </a:prstGeom>
        </p:spPr>
      </p:pic>
      <p:sp>
        <p:nvSpPr>
          <p:cNvPr id="23" name="Espace réservé du contenu 2">
            <a:extLst>
              <a:ext uri="{FF2B5EF4-FFF2-40B4-BE49-F238E27FC236}">
                <a16:creationId xmlns:a16="http://schemas.microsoft.com/office/drawing/2014/main" id="{95797F37-5F93-CA43-A78B-B335F9BF7BC1}"/>
              </a:ext>
            </a:extLst>
          </p:cNvPr>
          <p:cNvSpPr txBox="1">
            <a:spLocks/>
          </p:cNvSpPr>
          <p:nvPr/>
        </p:nvSpPr>
        <p:spPr>
          <a:xfrm>
            <a:off x="2459379" y="1596618"/>
            <a:ext cx="7784291" cy="46229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000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fr-FR" sz="1800" b="1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fr-FR" sz="1600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500" kern="1200" baseline="0">
                <a:solidFill>
                  <a:srgbClr val="00548A"/>
                </a:solidFill>
                <a:latin typeface="Myriad Pro" panose="020B05030304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65A3CC"/>
                </a:solidFill>
                <a:latin typeface="Myriad Pro" panose="020B05030304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56A099"/>
                </a:solidFill>
                <a:latin typeface="Myriad Pro" panose="020B05030304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Extensive use of </a:t>
            </a:r>
            <a:r>
              <a:rPr lang="fr-FR" dirty="0" err="1"/>
              <a:t>measurements</a:t>
            </a:r>
            <a:endParaRPr lang="fr-FR" dirty="0"/>
          </a:p>
        </p:txBody>
      </p:sp>
      <p:sp>
        <p:nvSpPr>
          <p:cNvPr id="24" name="Espace réservé du contenu 2">
            <a:extLst>
              <a:ext uri="{FF2B5EF4-FFF2-40B4-BE49-F238E27FC236}">
                <a16:creationId xmlns:a16="http://schemas.microsoft.com/office/drawing/2014/main" id="{58CBE446-53E7-30EA-899E-5B69760BF5B1}"/>
              </a:ext>
            </a:extLst>
          </p:cNvPr>
          <p:cNvSpPr txBox="1">
            <a:spLocks/>
          </p:cNvSpPr>
          <p:nvPr/>
        </p:nvSpPr>
        <p:spPr>
          <a:xfrm>
            <a:off x="10424374" y="1596618"/>
            <a:ext cx="1555942" cy="46229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000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fr-FR" sz="1800" b="1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fr-FR" sz="1600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500" kern="1200" baseline="0">
                <a:solidFill>
                  <a:srgbClr val="00548A"/>
                </a:solidFill>
                <a:latin typeface="Myriad Pro" panose="020B05030304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65A3CC"/>
                </a:solidFill>
                <a:latin typeface="Myriad Pro" panose="020B05030304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56A099"/>
                </a:solidFill>
                <a:latin typeface="Myriad Pro" panose="020B05030304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 err="1"/>
              <a:t>Aiming</a:t>
            </a:r>
            <a:r>
              <a:rPr lang="fr-FR" dirty="0"/>
              <a:t> on</a:t>
            </a:r>
          </a:p>
        </p:txBody>
      </p:sp>
      <p:sp>
        <p:nvSpPr>
          <p:cNvPr id="25" name="Espace réservé du contenu 2">
            <a:extLst>
              <a:ext uri="{FF2B5EF4-FFF2-40B4-BE49-F238E27FC236}">
                <a16:creationId xmlns:a16="http://schemas.microsoft.com/office/drawing/2014/main" id="{687B01BF-615B-B15D-B1B8-E3E0FF6E4ABB}"/>
              </a:ext>
            </a:extLst>
          </p:cNvPr>
          <p:cNvSpPr txBox="1">
            <a:spLocks/>
          </p:cNvSpPr>
          <p:nvPr/>
        </p:nvSpPr>
        <p:spPr>
          <a:xfrm>
            <a:off x="629257" y="3108825"/>
            <a:ext cx="1313959" cy="462294"/>
          </a:xfrm>
          <a:prstGeom prst="rect">
            <a:avLst/>
          </a:prstGeom>
        </p:spPr>
        <p:txBody>
          <a:bodyPr vert="horz" lIns="9000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fr-FR" sz="1800" b="1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fr-FR" sz="1600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500" kern="1200" baseline="0">
                <a:solidFill>
                  <a:srgbClr val="00548A"/>
                </a:solidFill>
                <a:latin typeface="Myriad Pro" panose="020B05030304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65A3CC"/>
                </a:solidFill>
                <a:latin typeface="Myriad Pro" panose="020B05030304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56A099"/>
                </a:solidFill>
                <a:latin typeface="Myriad Pro" panose="020B05030304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dirty="0" err="1"/>
              <a:t>Numerical</a:t>
            </a:r>
            <a:r>
              <a:rPr lang="fr-FR" dirty="0"/>
              <a:t> model</a:t>
            </a:r>
          </a:p>
        </p:txBody>
      </p:sp>
      <p:sp>
        <p:nvSpPr>
          <p:cNvPr id="26" name="Espace réservé du contenu 2">
            <a:extLst>
              <a:ext uri="{FF2B5EF4-FFF2-40B4-BE49-F238E27FC236}">
                <a16:creationId xmlns:a16="http://schemas.microsoft.com/office/drawing/2014/main" id="{19BE1608-C13E-BACE-3621-EF7780A235B2}"/>
              </a:ext>
            </a:extLst>
          </p:cNvPr>
          <p:cNvSpPr txBox="1">
            <a:spLocks/>
          </p:cNvSpPr>
          <p:nvPr/>
        </p:nvSpPr>
        <p:spPr>
          <a:xfrm>
            <a:off x="629257" y="5242278"/>
            <a:ext cx="1313959" cy="462294"/>
          </a:xfrm>
          <a:prstGeom prst="rect">
            <a:avLst/>
          </a:prstGeom>
          <a:solidFill>
            <a:schemeClr val="bg1"/>
          </a:solidFill>
        </p:spPr>
        <p:txBody>
          <a:bodyPr vert="horz" lIns="9000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fr-FR" sz="1800" b="1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fr-FR" sz="1600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500" kern="1200" baseline="0">
                <a:solidFill>
                  <a:srgbClr val="00548A"/>
                </a:solidFill>
                <a:latin typeface="Myriad Pro" panose="020B05030304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65A3CC"/>
                </a:solidFill>
                <a:latin typeface="Myriad Pro" panose="020B05030304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56A099"/>
                </a:solidFill>
                <a:latin typeface="Myriad Pro" panose="020B05030304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dirty="0"/>
              <a:t>EDZ </a:t>
            </a:r>
            <a:r>
              <a:rPr lang="fr-FR" dirty="0" err="1"/>
              <a:t>around</a:t>
            </a:r>
            <a:r>
              <a:rPr lang="fr-FR" dirty="0"/>
              <a:t> niche</a:t>
            </a:r>
          </a:p>
        </p:txBody>
      </p:sp>
      <p:sp>
        <p:nvSpPr>
          <p:cNvPr id="27" name="Espace réservé du contenu 2">
            <a:extLst>
              <a:ext uri="{FF2B5EF4-FFF2-40B4-BE49-F238E27FC236}">
                <a16:creationId xmlns:a16="http://schemas.microsoft.com/office/drawing/2014/main" id="{53C719B2-FB81-657F-CF38-2A9774C8884F}"/>
              </a:ext>
            </a:extLst>
          </p:cNvPr>
          <p:cNvSpPr txBox="1">
            <a:spLocks/>
          </p:cNvSpPr>
          <p:nvPr/>
        </p:nvSpPr>
        <p:spPr>
          <a:xfrm>
            <a:off x="10424373" y="2912882"/>
            <a:ext cx="1497290" cy="1697042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fr-FR" sz="1800" b="1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fr-FR" sz="1600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500" kern="1200" baseline="0">
                <a:solidFill>
                  <a:srgbClr val="00548A"/>
                </a:solidFill>
                <a:latin typeface="Myriad Pro" panose="020B05030304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65A3CC"/>
                </a:solidFill>
                <a:latin typeface="Myriad Pro" panose="020B05030304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56A099"/>
                </a:solidFill>
                <a:latin typeface="Myriad Pro" panose="020B05030304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1400" cap="all" dirty="0" err="1">
                <a:solidFill>
                  <a:srgbClr val="00548A"/>
                </a:solidFill>
              </a:rPr>
              <a:t>Improvement</a:t>
            </a:r>
            <a:r>
              <a:rPr lang="fr-FR" sz="1400" cap="all" dirty="0">
                <a:solidFill>
                  <a:srgbClr val="00548A"/>
                </a:solidFill>
              </a:rPr>
              <a:t> of model </a:t>
            </a:r>
            <a:r>
              <a:rPr lang="fr-FR" sz="1400" cap="all" dirty="0" err="1">
                <a:solidFill>
                  <a:srgbClr val="00548A"/>
                </a:solidFill>
              </a:rPr>
              <a:t>approaches</a:t>
            </a:r>
            <a:r>
              <a:rPr lang="fr-FR" sz="1400" cap="all" dirty="0">
                <a:solidFill>
                  <a:srgbClr val="00548A"/>
                </a:solidFill>
              </a:rPr>
              <a:t> by </a:t>
            </a:r>
            <a:r>
              <a:rPr lang="fr-FR" sz="1400" cap="all" dirty="0" err="1">
                <a:solidFill>
                  <a:srgbClr val="00548A"/>
                </a:solidFill>
              </a:rPr>
              <a:t>combining</a:t>
            </a:r>
            <a:r>
              <a:rPr lang="fr-FR" sz="1400" cap="all" dirty="0">
                <a:solidFill>
                  <a:srgbClr val="00548A"/>
                </a:solidFill>
              </a:rPr>
              <a:t> </a:t>
            </a:r>
            <a:r>
              <a:rPr lang="fr-FR" sz="1400" cap="all" dirty="0" err="1">
                <a:solidFill>
                  <a:srgbClr val="00548A"/>
                </a:solidFill>
              </a:rPr>
              <a:t>physical</a:t>
            </a:r>
            <a:r>
              <a:rPr lang="fr-FR" sz="1400" cap="all" dirty="0">
                <a:solidFill>
                  <a:srgbClr val="00548A"/>
                </a:solidFill>
              </a:rPr>
              <a:t> and data-</a:t>
            </a:r>
            <a:r>
              <a:rPr lang="fr-FR" sz="1400" cap="all" dirty="0" err="1">
                <a:solidFill>
                  <a:srgbClr val="00548A"/>
                </a:solidFill>
              </a:rPr>
              <a:t>driven</a:t>
            </a:r>
            <a:r>
              <a:rPr lang="fr-FR" sz="1400" cap="all" dirty="0">
                <a:solidFill>
                  <a:srgbClr val="00548A"/>
                </a:solidFill>
              </a:rPr>
              <a:t> </a:t>
            </a:r>
            <a:r>
              <a:rPr lang="fr-FR" sz="1400" cap="all" dirty="0" err="1">
                <a:solidFill>
                  <a:srgbClr val="00548A"/>
                </a:solidFill>
              </a:rPr>
              <a:t>models</a:t>
            </a:r>
            <a:endParaRPr lang="fr-FR" sz="1400" cap="all" dirty="0">
              <a:solidFill>
                <a:srgbClr val="00548A"/>
              </a:solidFill>
            </a:endParaRP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7E766A8B-CE79-9C29-E3DD-8C4F89DFC938}"/>
              </a:ext>
            </a:extLst>
          </p:cNvPr>
          <p:cNvSpPr txBox="1">
            <a:spLocks/>
          </p:cNvSpPr>
          <p:nvPr/>
        </p:nvSpPr>
        <p:spPr>
          <a:xfrm>
            <a:off x="3239994" y="5936882"/>
            <a:ext cx="4284715" cy="436955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fr-FR" sz="1800" b="1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fr-FR" sz="1600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500" kern="1200" baseline="0">
                <a:solidFill>
                  <a:srgbClr val="00548A"/>
                </a:solidFill>
                <a:latin typeface="Myriad Pro" panose="020B05030304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65A3CC"/>
                </a:solidFill>
                <a:latin typeface="Myriad Pro" panose="020B05030304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56A099"/>
                </a:solidFill>
                <a:latin typeface="Myriad Pro" panose="020B05030304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800" cap="all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Measurements</a:t>
            </a:r>
            <a:r>
              <a:rPr lang="fr-FR" sz="800" cap="al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fr-FR" sz="800" cap="all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from</a:t>
            </a:r>
            <a:r>
              <a:rPr lang="fr-FR" sz="800" cap="al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Mont Terri Project (CD-A </a:t>
            </a:r>
            <a:r>
              <a:rPr lang="fr-FR" sz="800" cap="all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Experiment</a:t>
            </a:r>
            <a:r>
              <a:rPr lang="fr-FR" sz="800" cap="al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68FFF441-43BA-D8EE-BF81-33FB70B0CA50}"/>
              </a:ext>
            </a:extLst>
          </p:cNvPr>
          <p:cNvSpPr txBox="1">
            <a:spLocks/>
          </p:cNvSpPr>
          <p:nvPr/>
        </p:nvSpPr>
        <p:spPr>
          <a:xfrm>
            <a:off x="8029555" y="6629338"/>
            <a:ext cx="994217" cy="229717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fr-FR" sz="1800" b="1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fr-FR" sz="1600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500" kern="1200" baseline="0">
                <a:solidFill>
                  <a:srgbClr val="00548A"/>
                </a:solidFill>
                <a:latin typeface="Myriad Pro" panose="020B05030304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65A3CC"/>
                </a:solidFill>
                <a:latin typeface="Myriad Pro" panose="020B05030304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56A099"/>
                </a:solidFill>
                <a:latin typeface="Myriad Pro" panose="020B05030304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800" b="0" cap="al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Ziefle, Cajuhi</a:t>
            </a:r>
          </a:p>
        </p:txBody>
      </p:sp>
      <p:sp>
        <p:nvSpPr>
          <p:cNvPr id="28" name="Espace réservé du contenu 2">
            <a:extLst>
              <a:ext uri="{FF2B5EF4-FFF2-40B4-BE49-F238E27FC236}">
                <a16:creationId xmlns:a16="http://schemas.microsoft.com/office/drawing/2014/main" id="{79ED42FF-05AC-D181-323C-B335488824B1}"/>
              </a:ext>
            </a:extLst>
          </p:cNvPr>
          <p:cNvSpPr txBox="1">
            <a:spLocks/>
          </p:cNvSpPr>
          <p:nvPr/>
        </p:nvSpPr>
        <p:spPr>
          <a:xfrm>
            <a:off x="9189540" y="6617781"/>
            <a:ext cx="994217" cy="229717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fr-FR" sz="1800" b="1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fr-FR" sz="1600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500" kern="1200" baseline="0">
                <a:solidFill>
                  <a:srgbClr val="00548A"/>
                </a:solidFill>
                <a:latin typeface="Myriad Pro" panose="020B05030304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65A3CC"/>
                </a:solidFill>
                <a:latin typeface="Myriad Pro" panose="020B05030304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56A099"/>
                </a:solidFill>
                <a:latin typeface="Myriad Pro" panose="020B05030304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800" b="0" cap="all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Beres</a:t>
            </a:r>
            <a:r>
              <a:rPr lang="fr-FR" sz="800" b="0" cap="al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fr-FR" sz="800" b="0" cap="all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luber</a:t>
            </a:r>
            <a:endParaRPr lang="fr-FR" sz="800" b="0" cap="all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746014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D7A8BEB74BC94F9F8BA119A4F81761" ma:contentTypeVersion="15" ma:contentTypeDescription="Crée un document." ma:contentTypeScope="" ma:versionID="3bcaea979d011b007ec132c544a5c6ad">
  <xsd:schema xmlns:xsd="http://www.w3.org/2001/XMLSchema" xmlns:xs="http://www.w3.org/2001/XMLSchema" xmlns:p="http://schemas.microsoft.com/office/2006/metadata/properties" xmlns:ns3="6b229fca-adcf-4f90-8eba-3549d5a903e4" xmlns:ns4="9235c9a2-6973-4369-92da-94f802cc11e7" targetNamespace="http://schemas.microsoft.com/office/2006/metadata/properties" ma:root="true" ma:fieldsID="8fd632264cbdc0e3b4a392114bb0360f" ns3:_="" ns4:_="">
    <xsd:import namespace="6b229fca-adcf-4f90-8eba-3549d5a903e4"/>
    <xsd:import namespace="9235c9a2-6973-4369-92da-94f802cc11e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229fca-adcf-4f90-8eba-3549d5a903e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35c9a2-6973-4369-92da-94f802cc11e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b229fca-adcf-4f90-8eba-3549d5a903e4" xsi:nil="true"/>
  </documentManagement>
</p:properties>
</file>

<file path=customXml/itemProps1.xml><?xml version="1.0" encoding="utf-8"?>
<ds:datastoreItem xmlns:ds="http://schemas.openxmlformats.org/officeDocument/2006/customXml" ds:itemID="{EEF3CBEC-3D55-40B9-AEE1-DF2EA37C69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229fca-adcf-4f90-8eba-3549d5a903e4"/>
    <ds:schemaRef ds:uri="9235c9a2-6973-4369-92da-94f802cc11e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B2FDF02-53F6-42A1-A619-A55D5FB8DC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1E45D6-04A3-4181-BC25-E1D5D829EA7A}">
  <ds:schemaRefs>
    <ds:schemaRef ds:uri="http://www.w3.org/XML/1998/namespace"/>
    <ds:schemaRef ds:uri="http://purl.org/dc/dcmitype/"/>
    <ds:schemaRef ds:uri="http://schemas.microsoft.com/office/2006/documentManagement/types"/>
    <ds:schemaRef ds:uri="9235c9a2-6973-4369-92da-94f802cc11e7"/>
    <ds:schemaRef ds:uri="6b229fca-adcf-4f90-8eba-3549d5a903e4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Office PowerPoint</Application>
  <PresentationFormat>Breitbild</PresentationFormat>
  <Paragraphs>12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Modern Love Grunge</vt:lpstr>
      <vt:lpstr>Thème Office</vt:lpstr>
      <vt:lpstr>Enhancing Numerical Models via Improved Parameter Estimates from Diverse Geophysical Measurements</vt:lpstr>
    </vt:vector>
  </TitlesOfParts>
  <Company>ANDRA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THEODON Louise</dc:creator>
  <cp:lastModifiedBy>Ziefle, Gesa</cp:lastModifiedBy>
  <cp:revision>9</cp:revision>
  <dcterms:created xsi:type="dcterms:W3CDTF">2024-07-10T09:53:19Z</dcterms:created>
  <dcterms:modified xsi:type="dcterms:W3CDTF">2025-09-05T13:49:43Z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0x01010097D7A8BEB74BC94F9F8BA119A4F81761</vt:lpwstr>
  </property>
</Properties>
</file>